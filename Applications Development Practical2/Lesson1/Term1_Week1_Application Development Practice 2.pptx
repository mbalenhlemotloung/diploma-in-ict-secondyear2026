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4882-F8CA-6C45-E39B-1DDAB035B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C6F3A-3D6F-C0CF-3425-F56C52880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19DB2-974F-BF05-CA51-B997B139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5517F-0C02-BB95-046A-6541A05D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DA002-69FA-B1A2-E14E-F0E4EF44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784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88C1-64B5-B245-11E0-731CE3CC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4E1C9-1F99-4D7C-18CB-FD13EF55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331A-E66D-677D-B1DE-C8BD0FA0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C0429-47F6-8F32-915D-5A344C58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7C2B9-B72D-4682-F4C1-5F0E9A4A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629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DB9A-DB73-58EA-F5A3-CA5D94CC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20228-A3A3-2A92-CFC7-215B61582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8A690-19A4-FA7C-E1A2-BA224C5D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185C8-BD95-6E50-300C-27D8882C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65663-2CF8-A49F-3473-193EB63C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465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402AE-FA54-1CD0-D732-5DDC38F3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DAFD-90FC-F582-006A-C8D3E1620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F68BA-31D8-FB18-26BC-0289E585B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47387-E2DB-CB9D-67F3-1494D200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267E2-FC8C-7B64-D353-DC767344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9A9B0-60D9-072E-4F80-836E62F2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459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0D5D-F8C0-8DDD-84D9-9C7F6588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EB70-3EA8-0E1B-A650-E51EE0965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9CEE0-D675-24F9-5CB3-B1C049E2D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AAA98-1BEE-4113-D9F2-78ADE3DD1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6A54D-457D-980B-7A2A-E04B8FC9B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3EC0C4-6F0C-73B4-596F-2685077B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E39C0-048D-AC19-38AD-F66A3948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41682-57A9-9256-6057-088E0DE5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716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F391-2B3B-BF53-C3E4-C49BA71E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A825B-F29E-A74C-C212-EEC95E10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ECBC7-37F7-DB03-9004-AB9376FE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DBC9A-BFBF-C7FE-C0AD-C61611AB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114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3A3DF-7FFC-B412-42D6-B9603265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73790-9F93-BF40-9E35-F75BCA7A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69D1F-3533-511E-323F-76A628D7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225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98B-ED90-37D1-EFB3-4C54568ED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BACD-A7D4-4BB1-1B9E-E3B719BB2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A71AB-589D-39F3-62F6-9C047BA72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4AF49-BCD8-CF5E-B578-2A9A9A87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596AB-C676-B10C-910E-7981A050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83FD6-4087-23EF-B15A-EDDACAB7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838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6889-C084-38EF-8851-E8FE58B5D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30316A-C806-D018-06B8-B32C90509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91073-A9EF-A3D9-5C5F-4343242A8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C08F6-2068-C32E-B0BF-F4C05668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AEC72-1437-5FF3-6FB2-5298C9D4F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648CE-94E6-31DC-08DB-9A7E09E1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339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2E9F-11D5-39A0-C7A3-9BDE9392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E5F81-F8E9-055A-AA4B-AA84B0848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EC263-0C79-7761-E862-7827928D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56C4-A265-0B1F-7D57-6CFF870D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8A340-F276-9813-6ECD-70D697B7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90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D4016-9C2B-A6D5-34A6-DA429698D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CDFA0-0B7F-529D-63C6-4ECFFC02B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4B270-02C1-5693-E93B-EB450CF7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A52F6-411D-AD8E-5F65-1EA488CC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C07EE-18B2-85E6-32E9-E7641B52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150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DAA21-254B-5E8F-2DC4-7B685E1E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B4567-2A06-6FCD-7A17-B6CBA7A5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53C65-8E39-8C0E-FD6F-C1EC48629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D8A73-AF0E-40B5-BD68-7F03421C73ED}" type="datetimeFigureOut">
              <a:rPr lang="en-ZA" smtClean="0"/>
              <a:t>2026/08/03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90C44-4E93-008D-9E4F-9722FBDFB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B7BA-CC89-A396-E91F-1A884390D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67C95-EB55-4884-A32B-4022057EDD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934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923A1B6F-ACFB-90AB-612D-BD593D4E13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913" b="6817"/>
          <a:stretch>
            <a:fillRect/>
          </a:stretch>
        </p:blipFill>
        <p:spPr>
          <a:xfrm>
            <a:off x="-100464" y="-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EF3E37-0EFE-FFDD-5DFB-0EF9065CB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rgbClr val="FFFF00"/>
                </a:solidFill>
              </a:rPr>
              <a:t>Application Development Practice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F340B-2DDB-9863-F253-5EB81E077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85000" lnSpcReduction="20000"/>
          </a:bodyPr>
          <a:lstStyle/>
          <a:p>
            <a:r>
              <a:rPr lang="en-ZA" sz="1700" b="1">
                <a:solidFill>
                  <a:srgbClr val="FFFFFF"/>
                </a:solidFill>
              </a:rPr>
              <a:t>Week 1: Revision (Object-Oriented Basics)</a:t>
            </a:r>
          </a:p>
          <a:p>
            <a:endParaRPr lang="en-ZA" sz="1700" b="1">
              <a:solidFill>
                <a:srgbClr val="FFFFFF"/>
              </a:solidFill>
            </a:endParaRPr>
          </a:p>
          <a:p>
            <a:r>
              <a:rPr lang="en-ZA" sz="1700" i="1">
                <a:solidFill>
                  <a:srgbClr val="FFFFFF"/>
                </a:solidFill>
              </a:rPr>
              <a:t>Diploma in ICT: Application Development</a:t>
            </a:r>
            <a:endParaRPr lang="en-ZA" sz="1700">
              <a:solidFill>
                <a:srgbClr val="FFFFFF"/>
              </a:solidFill>
            </a:endParaRPr>
          </a:p>
          <a:p>
            <a:r>
              <a:rPr lang="en-ZA" sz="1700" i="1">
                <a:solidFill>
                  <a:srgbClr val="FFFFFF"/>
                </a:solidFill>
              </a:rPr>
              <a:t>Mbalenhle Motloung</a:t>
            </a:r>
            <a:endParaRPr lang="en-ZA" sz="1700">
              <a:solidFill>
                <a:srgbClr val="FFFFFF"/>
              </a:solidFill>
            </a:endParaRPr>
          </a:p>
          <a:p>
            <a:endParaRPr lang="en-ZA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241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8526B-E328-37C7-C66A-2308BC692024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   Slide 2 : Learning Outcomes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   By the end of this presentation, I should be able to: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Explain what a class and an object are.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Identify Java's primitive data types.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Explain why String is not a primitive data type.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Understand Java's case sensitivity.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Describe constructors, getters, and setters.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Explain method parameters and the main method.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Differentiate between void methods and methods with return types.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Use the Scanner class for user input.</a:t>
            </a:r>
          </a:p>
        </p:txBody>
      </p:sp>
    </p:spTree>
    <p:extLst>
      <p:ext uri="{BB962C8B-B14F-4D97-AF65-F5344CB8AC3E}">
        <p14:creationId xmlns:p14="http://schemas.microsoft.com/office/powerpoint/2010/main" val="96710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327EE-BAAC-A450-B6B6-E350308DC3AE}"/>
              </a:ext>
            </a:extLst>
          </p:cNvPr>
          <p:cNvSpPr txBox="1"/>
          <p:nvPr/>
        </p:nvSpPr>
        <p:spPr>
          <a:xfrm>
            <a:off x="572757" y="363793"/>
            <a:ext cx="8460576" cy="9239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ZA" sz="2000" b="1" dirty="0"/>
              <a:t>What is a class ?</a:t>
            </a:r>
          </a:p>
          <a:p>
            <a:pPr>
              <a:buNone/>
            </a:pPr>
            <a:endParaRPr lang="en-ZA" sz="1480" b="1" dirty="0"/>
          </a:p>
          <a:p>
            <a:pPr>
              <a:buNone/>
            </a:pPr>
            <a:r>
              <a:rPr lang="en-US" sz="1480" dirty="0"/>
              <a:t>A class is a blueprint used in Object Oriented Programming to define the structure and </a:t>
            </a:r>
            <a:r>
              <a:rPr lang="en-ZA" sz="1480" dirty="0"/>
              <a:t>behaviour</a:t>
            </a:r>
            <a:r>
              <a:rPr lang="en-US" sz="1480" dirty="0"/>
              <a:t> of object.</a:t>
            </a:r>
          </a:p>
          <a:p>
            <a:pPr>
              <a:buNone/>
            </a:pPr>
            <a:endParaRPr lang="en-US" sz="1480" b="1" dirty="0"/>
          </a:p>
          <a:p>
            <a:pPr>
              <a:buNone/>
            </a:pPr>
            <a:r>
              <a:rPr lang="en-US" sz="1480" dirty="0"/>
              <a:t>A class can contain :</a:t>
            </a:r>
          </a:p>
          <a:p>
            <a:pPr>
              <a:buNone/>
            </a:pPr>
            <a:r>
              <a:rPr lang="en-US" sz="1480" dirty="0"/>
              <a:t>1.Variables to store the state of an object.</a:t>
            </a:r>
          </a:p>
          <a:p>
            <a:pPr>
              <a:buNone/>
            </a:pPr>
            <a:r>
              <a:rPr lang="en-US" sz="1480" dirty="0"/>
              <a:t>2.Methods to define the </a:t>
            </a:r>
            <a:r>
              <a:rPr lang="en-ZA" sz="1480" dirty="0"/>
              <a:t>behaviour </a:t>
            </a:r>
            <a:r>
              <a:rPr lang="en-US" sz="1480" dirty="0"/>
              <a:t> of an project.</a:t>
            </a:r>
          </a:p>
          <a:p>
            <a:pPr>
              <a:buNone/>
            </a:pPr>
            <a:r>
              <a:rPr lang="en-ZA" sz="1480" dirty="0"/>
              <a:t>3.Constructors</a:t>
            </a:r>
            <a:r>
              <a:rPr lang="en-US" sz="1480" dirty="0"/>
              <a:t> to initialize new objects.</a:t>
            </a:r>
          </a:p>
          <a:p>
            <a:pPr>
              <a:buNone/>
            </a:pPr>
            <a:r>
              <a:rPr lang="en-US" sz="1480" dirty="0"/>
              <a:t>4.Nested classes for logical grouping </a:t>
            </a:r>
          </a:p>
          <a:p>
            <a:pPr>
              <a:buNone/>
            </a:pPr>
            <a:endParaRPr lang="en-US" sz="1480" dirty="0"/>
          </a:p>
          <a:p>
            <a:pPr>
              <a:buNone/>
            </a:pPr>
            <a:r>
              <a:rPr lang="en-US" sz="1480" dirty="0"/>
              <a:t>class Student{</a:t>
            </a:r>
          </a:p>
          <a:p>
            <a:pPr>
              <a:buNone/>
            </a:pPr>
            <a:r>
              <a:rPr lang="en-US" sz="1480" dirty="0"/>
              <a:t>         int id;</a:t>
            </a:r>
          </a:p>
          <a:p>
            <a:pPr>
              <a:buNone/>
            </a:pPr>
            <a:r>
              <a:rPr lang="en-US" sz="1480" dirty="0"/>
              <a:t>         String name;</a:t>
            </a:r>
          </a:p>
          <a:p>
            <a:pPr>
              <a:buNone/>
            </a:pPr>
            <a:endParaRPr lang="en-US" sz="1480" dirty="0"/>
          </a:p>
          <a:p>
            <a:pPr>
              <a:buNone/>
            </a:pPr>
            <a:r>
              <a:rPr lang="en-US" sz="1480" dirty="0"/>
              <a:t>         public Student(int id, String name) {</a:t>
            </a:r>
          </a:p>
          <a:p>
            <a:pPr>
              <a:buNone/>
            </a:pPr>
            <a:r>
              <a:rPr lang="en-US" sz="1480" dirty="0"/>
              <a:t>         this.id=id;</a:t>
            </a:r>
          </a:p>
          <a:p>
            <a:pPr>
              <a:buNone/>
            </a:pPr>
            <a:r>
              <a:rPr lang="en-US" sz="1480" dirty="0"/>
              <a:t>          this.name=name;</a:t>
            </a:r>
          </a:p>
          <a:p>
            <a:pPr>
              <a:buNone/>
            </a:pPr>
            <a:r>
              <a:rPr lang="en-US" sz="1480" dirty="0"/>
              <a:t>          }</a:t>
            </a:r>
          </a:p>
          <a:p>
            <a:pPr>
              <a:buNone/>
            </a:pPr>
            <a:r>
              <a:rPr lang="en-US" sz="1480" dirty="0"/>
              <a:t>}</a:t>
            </a:r>
          </a:p>
          <a:p>
            <a:pPr>
              <a:buNone/>
            </a:pPr>
            <a:endParaRPr lang="en-US" sz="1480" dirty="0"/>
          </a:p>
          <a:p>
            <a:pPr>
              <a:buNone/>
            </a:pPr>
            <a:r>
              <a:rPr lang="en-US" sz="1480" dirty="0"/>
              <a:t>public class Main {</a:t>
            </a:r>
          </a:p>
          <a:p>
            <a:pPr>
              <a:buNone/>
            </a:pPr>
            <a:r>
              <a:rPr lang="en-US" sz="1480" dirty="0"/>
              <a:t>      public static void main( String [] </a:t>
            </a:r>
            <a:r>
              <a:rPr lang="en-US" sz="1480" dirty="0" err="1"/>
              <a:t>args</a:t>
            </a:r>
            <a:r>
              <a:rPr lang="en-US" sz="1480" dirty="0"/>
              <a:t>) {</a:t>
            </a:r>
          </a:p>
          <a:p>
            <a:pPr>
              <a:buNone/>
            </a:pPr>
            <a:r>
              <a:rPr lang="en-US" sz="1480" dirty="0"/>
              <a:t>      Student s1 = new Student ( 10 , </a:t>
            </a:r>
            <a:r>
              <a:rPr lang="en-ZA" sz="1480" dirty="0"/>
              <a:t>"</a:t>
            </a:r>
            <a:r>
              <a:rPr lang="en-US" sz="1480" dirty="0"/>
              <a:t>Alice</a:t>
            </a:r>
            <a:r>
              <a:rPr lang="en-ZA" sz="1480" dirty="0"/>
              <a:t>"</a:t>
            </a:r>
            <a:r>
              <a:rPr lang="en-US" sz="1480" dirty="0"/>
              <a:t> );</a:t>
            </a:r>
          </a:p>
          <a:p>
            <a:pPr>
              <a:buNone/>
            </a:pPr>
            <a:r>
              <a:rPr lang="en-US" sz="1480" dirty="0"/>
              <a:t>      </a:t>
            </a:r>
            <a:r>
              <a:rPr lang="en-US" sz="1480" dirty="0" err="1"/>
              <a:t>System.out.println</a:t>
            </a:r>
            <a:r>
              <a:rPr lang="en-US" sz="1480" dirty="0"/>
              <a:t>( “Student ID:  ” + s1.id);</a:t>
            </a:r>
          </a:p>
          <a:p>
            <a:r>
              <a:rPr lang="en-US" sz="1480" dirty="0"/>
              <a:t>      </a:t>
            </a:r>
            <a:r>
              <a:rPr lang="en-US" sz="1480" dirty="0" err="1"/>
              <a:t>System.out.println</a:t>
            </a:r>
            <a:r>
              <a:rPr lang="en-US" sz="1480" dirty="0"/>
              <a:t>( “Student name: ” + s1.name );</a:t>
            </a:r>
          </a:p>
          <a:p>
            <a:r>
              <a:rPr lang="en-US" sz="1480" dirty="0"/>
              <a:t>    }</a:t>
            </a:r>
          </a:p>
          <a:p>
            <a:r>
              <a:rPr lang="en-US" sz="1480" dirty="0"/>
              <a:t>}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ZA" b="1" dirty="0"/>
          </a:p>
          <a:p>
            <a:pPr>
              <a:buNone/>
            </a:pP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167178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B37AD7-4801-F2DC-00FB-D4B5F6F3CA2E}"/>
              </a:ext>
            </a:extLst>
          </p:cNvPr>
          <p:cNvSpPr txBox="1"/>
          <p:nvPr/>
        </p:nvSpPr>
        <p:spPr>
          <a:xfrm>
            <a:off x="432619" y="68826"/>
            <a:ext cx="8239433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ZA" sz="1600" b="1" dirty="0"/>
              <a:t>Slide 4 – What is an Object?</a:t>
            </a:r>
          </a:p>
          <a:p>
            <a:pPr>
              <a:buNone/>
            </a:pPr>
            <a:endParaRPr lang="en-ZA" sz="1600" b="1" dirty="0"/>
          </a:p>
          <a:p>
            <a:pPr>
              <a:buNone/>
            </a:pPr>
            <a:r>
              <a:rPr lang="en-ZA" sz="1600" dirty="0"/>
              <a:t>An object is an instance of a class.</a:t>
            </a:r>
          </a:p>
          <a:p>
            <a:pPr>
              <a:buNone/>
            </a:pPr>
            <a:endParaRPr lang="en-ZA" sz="1600" dirty="0"/>
          </a:p>
          <a:p>
            <a:pPr>
              <a:buNone/>
            </a:pPr>
            <a:r>
              <a:rPr lang="en-ZA" sz="1600" dirty="0"/>
              <a:t>public class Dog {</a:t>
            </a:r>
          </a:p>
          <a:p>
            <a:pPr>
              <a:buNone/>
            </a:pPr>
            <a:r>
              <a:rPr lang="en-ZA" sz="1600" dirty="0"/>
              <a:t>  int age;</a:t>
            </a:r>
          </a:p>
          <a:p>
            <a:pPr>
              <a:buNone/>
            </a:pPr>
            <a:r>
              <a:rPr lang="en-ZA" sz="1600" dirty="0"/>
              <a:t>  String name;</a:t>
            </a:r>
          </a:p>
          <a:p>
            <a:pPr>
              <a:buNone/>
            </a:pPr>
            <a:endParaRPr lang="en-ZA" sz="1600" dirty="0"/>
          </a:p>
          <a:p>
            <a:pPr>
              <a:buNone/>
            </a:pPr>
            <a:r>
              <a:rPr lang="en-ZA" sz="1600" dirty="0"/>
              <a:t>   public Dog ( int age, String name ){</a:t>
            </a:r>
          </a:p>
          <a:p>
            <a:pPr>
              <a:buNone/>
            </a:pPr>
            <a:r>
              <a:rPr lang="en-ZA" sz="1600" dirty="0"/>
              <a:t>    </a:t>
            </a:r>
            <a:r>
              <a:rPr lang="en-ZA" sz="1600" dirty="0" err="1"/>
              <a:t>this.age</a:t>
            </a:r>
            <a:r>
              <a:rPr lang="en-ZA" sz="1600" dirty="0"/>
              <a:t>=age ;</a:t>
            </a:r>
          </a:p>
          <a:p>
            <a:pPr>
              <a:buNone/>
            </a:pPr>
            <a:r>
              <a:rPr lang="en-ZA" sz="1600" dirty="0"/>
              <a:t>    this.name=name;</a:t>
            </a:r>
          </a:p>
          <a:p>
            <a:pPr>
              <a:buNone/>
            </a:pPr>
            <a:r>
              <a:rPr lang="en-ZA" sz="1600" dirty="0"/>
              <a:t>}</a:t>
            </a:r>
          </a:p>
          <a:p>
            <a:pPr>
              <a:buNone/>
            </a:pPr>
            <a:r>
              <a:rPr lang="en-ZA" sz="1600" dirty="0"/>
              <a:t>}</a:t>
            </a:r>
          </a:p>
          <a:p>
            <a:pPr>
              <a:buNone/>
            </a:pPr>
            <a:endParaRPr lang="en-ZA" sz="1600" dirty="0"/>
          </a:p>
          <a:p>
            <a:pPr>
              <a:buNone/>
            </a:pPr>
            <a:r>
              <a:rPr lang="en-ZA" sz="1600" dirty="0"/>
              <a:t>void bark() {</a:t>
            </a:r>
          </a:p>
          <a:p>
            <a:pPr>
              <a:buNone/>
            </a:pPr>
            <a:r>
              <a:rPr lang="en-ZA" sz="1600" dirty="0" err="1"/>
              <a:t>System.out.prinln</a:t>
            </a:r>
            <a:r>
              <a:rPr lang="en-ZA" sz="1600" dirty="0"/>
              <a:t>( name+ “ is barking!”);</a:t>
            </a:r>
          </a:p>
          <a:p>
            <a:pPr>
              <a:buNone/>
            </a:pPr>
            <a:r>
              <a:rPr lang="en-ZA" sz="1600" dirty="0"/>
              <a:t>}</a:t>
            </a:r>
          </a:p>
          <a:p>
            <a:pPr>
              <a:buNone/>
            </a:pPr>
            <a:endParaRPr lang="en-ZA" sz="1600" dirty="0"/>
          </a:p>
          <a:p>
            <a:pPr>
              <a:buNone/>
            </a:pPr>
            <a:r>
              <a:rPr lang="en-ZA" sz="1600" dirty="0"/>
              <a:t>public class Main {</a:t>
            </a:r>
          </a:p>
          <a:p>
            <a:pPr>
              <a:buNone/>
            </a:pPr>
            <a:r>
              <a:rPr lang="en-ZA" sz="1600" dirty="0"/>
              <a:t>public static void main (String[] args){</a:t>
            </a:r>
          </a:p>
          <a:p>
            <a:pPr>
              <a:buNone/>
            </a:pPr>
            <a:r>
              <a:rPr lang="en-ZA" sz="1600" dirty="0"/>
              <a:t>Dog d1=new Dog( 10 , " Bobby </a:t>
            </a:r>
            <a:r>
              <a:rPr lang="en-US" sz="1600" dirty="0"/>
              <a:t> </a:t>
            </a:r>
            <a:r>
              <a:rPr lang="en-ZA" sz="1600" dirty="0"/>
              <a:t>" );</a:t>
            </a:r>
          </a:p>
          <a:p>
            <a:pPr>
              <a:buNone/>
            </a:pPr>
            <a:r>
              <a:rPr lang="en-ZA" sz="1600" dirty="0"/>
              <a:t>Dog d2= new Dog ( 2, " Kai</a:t>
            </a:r>
            <a:r>
              <a:rPr lang="en-US" sz="1600" dirty="0"/>
              <a:t> </a:t>
            </a:r>
            <a:r>
              <a:rPr lang="en-ZA" sz="1600" dirty="0"/>
              <a:t>"  );</a:t>
            </a:r>
          </a:p>
          <a:p>
            <a:pPr>
              <a:buNone/>
            </a:pPr>
            <a:endParaRPr lang="en-ZA" sz="1600" dirty="0"/>
          </a:p>
          <a:p>
            <a:pPr>
              <a:buNone/>
            </a:pPr>
            <a:r>
              <a:rPr lang="en-ZA" sz="1600" dirty="0"/>
              <a:t>d1.bark();</a:t>
            </a:r>
          </a:p>
          <a:p>
            <a:pPr>
              <a:buNone/>
            </a:pPr>
            <a:r>
              <a:rPr lang="en-ZA" sz="1600" dirty="0"/>
              <a:t>D2.bark();</a:t>
            </a:r>
          </a:p>
          <a:p>
            <a:pPr>
              <a:buNone/>
            </a:pPr>
            <a:r>
              <a:rPr lang="en-ZA" sz="1600" dirty="0"/>
              <a:t>}</a:t>
            </a:r>
          </a:p>
          <a:p>
            <a:pPr>
              <a:buNone/>
            </a:pPr>
            <a:r>
              <a:rPr lang="en-ZA" sz="1600" dirty="0"/>
              <a:t>}</a:t>
            </a:r>
          </a:p>
          <a:p>
            <a:pPr>
              <a:buNone/>
            </a:pPr>
            <a:endParaRPr lang="en-ZA" dirty="0"/>
          </a:p>
          <a:p>
            <a:pPr>
              <a:buNone/>
            </a:pPr>
            <a:endParaRPr lang="en-ZA" dirty="0"/>
          </a:p>
          <a:p>
            <a:pPr>
              <a:buNone/>
            </a:pPr>
            <a:endParaRPr lang="en-ZA" dirty="0"/>
          </a:p>
          <a:p>
            <a:pPr>
              <a:buNone/>
            </a:pPr>
            <a:endParaRPr lang="en-ZA" dirty="0"/>
          </a:p>
          <a:p>
            <a:pPr>
              <a:buNone/>
            </a:pPr>
            <a:r>
              <a:rPr lang="en-ZA" dirty="0"/>
              <a:t> </a:t>
            </a:r>
          </a:p>
          <a:p>
            <a:pPr>
              <a:buNone/>
            </a:pPr>
            <a:endParaRPr lang="en-ZA" dirty="0"/>
          </a:p>
          <a:p>
            <a:pPr>
              <a:buNone/>
            </a:pPr>
            <a:r>
              <a:rPr lang="en-ZA" dirty="0"/>
              <a:t>      </a:t>
            </a:r>
          </a:p>
          <a:p>
            <a:pPr>
              <a:buNone/>
            </a:pPr>
            <a:endParaRPr lang="en-ZA" dirty="0"/>
          </a:p>
          <a:p>
            <a:pPr>
              <a:buNone/>
            </a:pPr>
            <a:endParaRPr lang="en-ZA" dirty="0"/>
          </a:p>
          <a:p>
            <a:pPr>
              <a:buNone/>
            </a:pP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429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A41CA-6038-312E-F357-FEF46D4D71E0}"/>
              </a:ext>
            </a:extLst>
          </p:cNvPr>
          <p:cNvSpPr txBox="1"/>
          <p:nvPr/>
        </p:nvSpPr>
        <p:spPr>
          <a:xfrm>
            <a:off x="7331384" y="679730"/>
            <a:ext cx="4171994" cy="39327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 Primitive Data Types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1EEB71-0C8C-F556-D0EF-C0F98DEE1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197666"/>
              </p:ext>
            </p:extLst>
          </p:nvPr>
        </p:nvGraphicFramePr>
        <p:xfrm>
          <a:off x="942597" y="997356"/>
          <a:ext cx="5608831" cy="48632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8955">
                  <a:extLst>
                    <a:ext uri="{9D8B030D-6E8A-4147-A177-3AD203B41FA5}">
                      <a16:colId xmlns:a16="http://schemas.microsoft.com/office/drawing/2014/main" val="3861814770"/>
                    </a:ext>
                  </a:extLst>
                </a:gridCol>
                <a:gridCol w="3759876">
                  <a:extLst>
                    <a:ext uri="{9D8B030D-6E8A-4147-A177-3AD203B41FA5}">
                      <a16:colId xmlns:a16="http://schemas.microsoft.com/office/drawing/2014/main" val="1978612564"/>
                    </a:ext>
                  </a:extLst>
                </a:gridCol>
              </a:tblGrid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430868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byte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Small integers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293715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short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Small whole numbers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02738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Whole numbers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110154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long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Large integers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897843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float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Decimal numbers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89556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Precise decimal numbers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361760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char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Single character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951273"/>
                  </a:ext>
                </a:extLst>
              </a:tr>
              <a:tr h="540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>
                          <a:solidFill>
                            <a:schemeClr val="tx1"/>
                          </a:solidFill>
                        </a:rPr>
                        <a:t>boolean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</a:rPr>
                        <a:t>True or False</a:t>
                      </a:r>
                    </a:p>
                  </a:txBody>
                  <a:tcPr marL="145641" marR="145641" marT="145641" marB="1456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8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81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980C9-7B6C-91DF-DBFB-7DEA7E243D59}"/>
              </a:ext>
            </a:extLst>
          </p:cNvPr>
          <p:cNvSpPr txBox="1"/>
          <p:nvPr/>
        </p:nvSpPr>
        <p:spPr>
          <a:xfrm>
            <a:off x="334297" y="206478"/>
            <a:ext cx="1070732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ZA" b="1" dirty="0"/>
              <a:t>Why is String Not Primitive?</a:t>
            </a:r>
          </a:p>
          <a:p>
            <a:pPr>
              <a:buNone/>
            </a:pPr>
            <a:r>
              <a:rPr lang="en-ZA" dirty="0"/>
              <a:t>Unlike primitive types such as int, float, or char, which directly store values, a String is an object that stores a reference to a sequence of characters.</a:t>
            </a:r>
          </a:p>
          <a:p>
            <a:pPr>
              <a:buNone/>
            </a:pPr>
            <a:endParaRPr lang="en-ZA" b="1" dirty="0"/>
          </a:p>
          <a:p>
            <a:r>
              <a:rPr lang="en-ZA" b="1" dirty="0"/>
              <a:t>Java is Case Sensitive</a:t>
            </a:r>
          </a:p>
          <a:p>
            <a:r>
              <a:rPr lang="en-ZA" dirty="0"/>
              <a:t>Java is a case sensitive programming language. This means that uppercase and lowercase letters are treated as different characters. Changing the capitalization of a word creates a completely different identifier.</a:t>
            </a:r>
          </a:p>
          <a:p>
            <a:endParaRPr lang="en-ZA" dirty="0"/>
          </a:p>
          <a:p>
            <a:r>
              <a:rPr lang="en-ZA" b="1" dirty="0"/>
              <a:t>Method Parameters</a:t>
            </a:r>
          </a:p>
          <a:p>
            <a:r>
              <a:rPr lang="en-ZA" dirty="0"/>
              <a:t>Parameters allow data to be passed into methods.</a:t>
            </a:r>
          </a:p>
          <a:p>
            <a:r>
              <a:rPr lang="en-ZA" dirty="0"/>
              <a:t> public void bark ( String name )</a:t>
            </a:r>
          </a:p>
          <a:p>
            <a:endParaRPr lang="en-ZA" dirty="0"/>
          </a:p>
          <a:p>
            <a:r>
              <a:rPr lang="en-ZA" b="1" dirty="0"/>
              <a:t>The Main Method</a:t>
            </a:r>
          </a:p>
          <a:p>
            <a:r>
              <a:rPr lang="en-ZA" dirty="0"/>
              <a:t>Explain that this is the starting point of every Java application.</a:t>
            </a:r>
          </a:p>
          <a:p>
            <a:r>
              <a:rPr lang="en-ZA" dirty="0"/>
              <a:t> public void main (String [] args)</a:t>
            </a:r>
          </a:p>
          <a:p>
            <a:endParaRPr lang="en-ZA" b="1" dirty="0"/>
          </a:p>
          <a:p>
            <a:r>
              <a:rPr lang="en-ZA" b="1" dirty="0"/>
              <a:t>Void vs Return Methods</a:t>
            </a:r>
          </a:p>
          <a:p>
            <a:r>
              <a:rPr lang="en-ZA" dirty="0"/>
              <a:t>Void does not return a value and performs an action.</a:t>
            </a:r>
          </a:p>
          <a:p>
            <a:r>
              <a:rPr lang="en-ZA" dirty="0"/>
              <a:t>Return Returns a value and produce results.</a:t>
            </a:r>
          </a:p>
          <a:p>
            <a:r>
              <a:rPr lang="en-ZA" b="1" dirty="0"/>
              <a:t>Void : </a:t>
            </a:r>
            <a:r>
              <a:rPr lang="en-ZA" dirty="0"/>
              <a:t>public void display()</a:t>
            </a:r>
          </a:p>
          <a:p>
            <a:r>
              <a:rPr lang="en-ZA" b="1" dirty="0"/>
              <a:t>Return: </a:t>
            </a:r>
            <a:r>
              <a:rPr lang="en-ZA" dirty="0"/>
              <a:t>public int calculate()</a:t>
            </a:r>
          </a:p>
          <a:p>
            <a:pPr>
              <a:buNone/>
            </a:pP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111633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AFE6A-484F-3B1E-165B-D0CF38A7F238}"/>
              </a:ext>
            </a:extLst>
          </p:cNvPr>
          <p:cNvSpPr txBox="1"/>
          <p:nvPr/>
        </p:nvSpPr>
        <p:spPr>
          <a:xfrm>
            <a:off x="5044273" y="281354"/>
            <a:ext cx="6308005" cy="5863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/>
              <a:t>Scanner Class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The Scanner class is used to read input from the user through the keyboard. It allows a Java program to accept different types of data, such as text, numbers, and Boolean values.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u="sng" dirty="0"/>
              <a:t>Import Statement: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Import java.util.Scanner;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u="sng" dirty="0"/>
              <a:t>Creating a Scanner Object: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Scanner input = new Scanner (System.in)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u="sng" dirty="0"/>
              <a:t>Scanner Methods: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next() – Reads a single line.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nextLine()-  Reads an entire line of code.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nextInt()-  Reads an integer.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nextDouble() - Reads a decimal number.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nextBoolen () – Reads a Boolean value (True /false)</a:t>
            </a:r>
          </a:p>
        </p:txBody>
      </p:sp>
    </p:spTree>
    <p:extLst>
      <p:ext uri="{BB962C8B-B14F-4D97-AF65-F5344CB8AC3E}">
        <p14:creationId xmlns:p14="http://schemas.microsoft.com/office/powerpoint/2010/main" val="283837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914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694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Application Development Practice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mbalenhle motloung</dc:creator>
  <cp:lastModifiedBy>mbalenhle motloung</cp:lastModifiedBy>
  <cp:revision>1</cp:revision>
  <dcterms:created xsi:type="dcterms:W3CDTF">2026-08-03T09:21:28Z</dcterms:created>
  <dcterms:modified xsi:type="dcterms:W3CDTF">2026-08-03T11:38:00Z</dcterms:modified>
</cp:coreProperties>
</file>